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strument Sans SemiBold"/>
      <p:regular r:id="rId16"/>
      <p:bold r:id="rId17"/>
      <p:italic r:id="rId18"/>
      <p:boldItalic r:id="rId19"/>
    </p:embeddedFont>
    <p:embeddedFont>
      <p:font typeface="Instrument Sans Medium"/>
      <p:regular r:id="rId20"/>
      <p:bold r:id="rId21"/>
      <p:italic r:id="rId22"/>
      <p:boldItalic r:id="rId23"/>
    </p:embeddedFont>
    <p:embeddedFont>
      <p:font typeface="Instrument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InstrumentSansMedium-regular.fntdata"/><Relationship Id="rId22" Type="http://schemas.openxmlformats.org/officeDocument/2006/relationships/font" Target="fonts/InstrumentSansMedium-italic.fntdata"/><Relationship Id="rId21" Type="http://schemas.openxmlformats.org/officeDocument/2006/relationships/font" Target="fonts/InstrumentSansMedium-bold.fntdata"/><Relationship Id="rId24" Type="http://schemas.openxmlformats.org/officeDocument/2006/relationships/font" Target="fonts/InstrumentSans-regular.fntdata"/><Relationship Id="rId23" Type="http://schemas.openxmlformats.org/officeDocument/2006/relationships/font" Target="fonts/InstrumentSansMedium-boldItalic.fntdata"/><Relationship Id="rId26" Type="http://schemas.openxmlformats.org/officeDocument/2006/relationships/font" Target="fonts/InstrumentSans-italic.fntdata"/><Relationship Id="rId25" Type="http://schemas.openxmlformats.org/officeDocument/2006/relationships/font" Target="fonts/InstrumentSans-bold.fntdata"/><Relationship Id="rId27" Type="http://schemas.openxmlformats.org/officeDocument/2006/relationships/font" Target="fonts/Instrument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strumentSansSemiBold-bold.fntdata"/><Relationship Id="rId16" Type="http://schemas.openxmlformats.org/officeDocument/2006/relationships/font" Target="fonts/InstrumentSansSemiBold-regular.fntdata"/><Relationship Id="rId19" Type="http://schemas.openxmlformats.org/officeDocument/2006/relationships/font" Target="fonts/InstrumentSansSemiBold-boldItalic.fntdata"/><Relationship Id="rId18" Type="http://schemas.openxmlformats.org/officeDocument/2006/relationships/font" Target="fonts/InstrumentSans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f035971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f035971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f0359715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f035971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f0359715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df0359715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dfc73249d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dfc73249d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f0359715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df0359715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f03597158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f03597158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f061761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df061761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f03597158_0_1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df03597158_0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f03597158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df03597158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f0359715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df0359715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12" name="Google Shape;12;p2"/>
          <p:cNvPicPr preferRelativeResize="0"/>
          <p:nvPr/>
        </p:nvPicPr>
        <p:blipFill rotWithShape="1">
          <a:blip r:embed="rId2">
            <a:alphaModFix/>
          </a:blip>
          <a:srcRect b="23378" l="26958" r="35833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13" name="Google Shape;13;p2"/>
          <p:cNvPicPr preferRelativeResize="0"/>
          <p:nvPr/>
        </p:nvPicPr>
        <p:blipFill rotWithShape="1">
          <a:blip r:embed="rId3">
            <a:alphaModFix/>
          </a:blip>
          <a:srcRect b="1225" l="28621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24" name="Google Shape;24;p3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25" name="Google Shape;25;p3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" name="Google Shape;30;p4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35" name="Google Shape;35;p4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5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6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7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" name="Google Shape;84;p7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7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7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7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7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7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4" name="Google Shape;94;p7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5" name="Google Shape;95;p7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6" name="Google Shape;96;p7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8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4" name="Google Shape;104;p8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5" name="Google Shape;105;p8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7" name="Google Shape;107;p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8" name="Google Shape;108;p8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9" name="Google Shape;109;p8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0" name="Google Shape;110;p8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" name="Google Shape;112;p8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3" name="Google Shape;113;p8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5" name="Google Shape;115;p8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6" name="Google Shape;116;p8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9" name="Google Shape;119;p8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23" name="Google Shape;123;p9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4" name="Google Shape;124;p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7" name="Google Shape;127;p10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10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5" name="Google Shape;135;p11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6" name="Google Shape;136;p11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7" name="Google Shape;137;p1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141" name="Google Shape;141;p1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2" name="Google Shape;142;p12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3" name="Google Shape;143;p1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9" name="Google Shape;149;p13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0" name="Google Shape;150;p1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1" name="Google Shape;151;p1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2" name="Google Shape;152;p13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3" name="Google Shape;153;p13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1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13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8" name="Google Shape;158;p1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9" name="Google Shape;159;p1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5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163" name="Google Shape;163;p15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9" name="Google Shape;169;p16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170" name="Google Shape;170;p16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4" name="Google Shape;174;p16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5" name="Google Shape;175;p16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6" name="Google Shape;176;p16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7" name="Google Shape;177;p1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180" name="Google Shape;180;p1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17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02" name="Google Shape;202;p18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3" name="Google Shape;213;p1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4" name="Google Shape;214;p1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19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16" name="Google Shape;216;p19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7" name="Google Shape;217;p19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19" name="Google Shape;219;p19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22" name="Google Shape;222;p19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224" name="Google Shape;224;p19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8" name="Google Shape;228;p2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9" name="Google Shape;229;p2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1" name="Google Shape;231;p20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2" name="Google Shape;232;p20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3" name="Google Shape;233;p20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5" name="Google Shape;245;p20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7" name="Google Shape;247;p20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2" name="Google Shape;252;p21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53" name="Google Shape;253;p21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4" name="Google Shape;254;p21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55" name="Google Shape;255;p21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6" name="Google Shape;256;p21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57" name="Google Shape;257;p2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8" name="Google Shape;258;p21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21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0" name="Google Shape;260;p21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61" name="Google Shape;261;p21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62" name="Google Shape;262;p2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1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66" name="Google Shape;266;p21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9" name="Google Shape;269;p22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0" name="Google Shape;270;p22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1" name="Google Shape;271;p2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2" name="Google Shape;272;p22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4" name="Google Shape;274;p22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5" name="Google Shape;275;p2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6" name="Google Shape;276;p22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82" name="Google Shape;282;p23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83" name="Google Shape;283;p2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2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2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5" name="Google Shape;295;p25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6" name="Google Shape;296;p25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8" name="Google Shape;298;p25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9" name="Google Shape;299;p25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0" name="Google Shape;300;p25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1" name="Google Shape;301;p25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02" name="Google Shape;302;p25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03" name="Google Shape;303;p25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6" name="Google Shape;306;p26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8" name="Google Shape;308;p26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309" name="Google Shape;309;p26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10" name="Google Shape;310;p26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1" name="Google Shape;311;p26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3" name="Google Shape;313;p26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17" name="Google Shape;317;p27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18" name="Google Shape;318;p27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19" name="Google Shape;319;p27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20" name="Google Shape;320;p2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1" name="Google Shape;321;p2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2" name="Google Shape;322;p27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27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2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7" name="Google Shape;327;p2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3" name="Google Shape;333;p28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5" name="Google Shape;335;p28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6" name="Google Shape;336;p28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9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1" name="Google Shape;341;p29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4" name="Google Shape;344;p29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5" name="Google Shape;345;p29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7" name="Google Shape;347;p29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8" name="Google Shape;348;p29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29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0" name="Google Shape;350;p29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1" name="Google Shape;351;p29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29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3" name="Google Shape;353;p29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4" name="Google Shape;354;p2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57" name="Google Shape;35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2" name="Google Shape;36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6" name="Google Shape;366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76" name="Google Shape;376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7" name="Google Shape;377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82" name="Google Shape;382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98" name="Google Shape;398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5" name="Google Shape;405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06" name="Google Shape;406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3" name="Google Shape;413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5" name="Google Shape;415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16" name="Google Shape;416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0" name="Google Shape;430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8" name="Google Shape;43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0" name="Google Shape;440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1" name="Google Shape;441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2" name="Google Shape;452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"/>
          <p:cNvSpPr/>
          <p:nvPr/>
        </p:nvSpPr>
        <p:spPr>
          <a:xfrm>
            <a:off x="284700" y="4434600"/>
            <a:ext cx="18480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William Lee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460" name="Google Shape;460;p51"/>
          <p:cNvSpPr/>
          <p:nvPr/>
        </p:nvSpPr>
        <p:spPr>
          <a:xfrm>
            <a:off x="2132824" y="4434600"/>
            <a:ext cx="12936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May 2026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461" name="Google Shape;461;p51"/>
          <p:cNvSpPr txBox="1"/>
          <p:nvPr>
            <p:ph type="title"/>
          </p:nvPr>
        </p:nvSpPr>
        <p:spPr>
          <a:xfrm>
            <a:off x="291800" y="465200"/>
            <a:ext cx="5666400" cy="235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Hotel Booking Cancellation Modeling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/>
          <p:nvPr/>
        </p:nvSpPr>
        <p:spPr>
          <a:xfrm>
            <a:off x="284700" y="2037676"/>
            <a:ext cx="2055000" cy="26322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7" name="Google Shape;467;p52"/>
          <p:cNvSpPr/>
          <p:nvPr/>
        </p:nvSpPr>
        <p:spPr>
          <a:xfrm>
            <a:off x="2457075" y="2037676"/>
            <a:ext cx="2055000" cy="2632200"/>
          </a:xfrm>
          <a:prstGeom prst="roundRect">
            <a:avLst>
              <a:gd fmla="val 102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8" name="Google Shape;468;p52"/>
          <p:cNvSpPr/>
          <p:nvPr/>
        </p:nvSpPr>
        <p:spPr>
          <a:xfrm>
            <a:off x="4629475" y="2037676"/>
            <a:ext cx="2055000" cy="2632200"/>
          </a:xfrm>
          <a:prstGeom prst="roundRect">
            <a:avLst>
              <a:gd fmla="val 100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9" name="Google Shape;469;p52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Data Cleaning</a:t>
            </a:r>
            <a:endParaRPr sz="1400"/>
          </a:p>
        </p:txBody>
      </p:sp>
      <p:sp>
        <p:nvSpPr>
          <p:cNvPr id="470" name="Google Shape;470;p52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471" name="Google Shape;471;p52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Models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kNN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Log Regression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Cat Boost</a:t>
            </a:r>
            <a:endParaRPr sz="1400"/>
          </a:p>
        </p:txBody>
      </p:sp>
      <p:sp>
        <p:nvSpPr>
          <p:cNvPr id="472" name="Google Shape;472;p5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52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 </a:t>
            </a:r>
            <a:r>
              <a:rPr lang="en">
                <a:highlight>
                  <a:schemeClr val="accent2"/>
                </a:highlight>
              </a:rPr>
              <a:t>deck contents</a:t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474" name="Google Shape;474;p52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75" name="Google Shape;475;p52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76" name="Google Shape;476;p52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77" name="Google Shape;477;p52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5</a:t>
            </a:r>
            <a:endParaRPr/>
          </a:p>
        </p:txBody>
      </p:sp>
      <p:sp>
        <p:nvSpPr>
          <p:cNvPr id="478" name="Google Shape;478;p52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6</a:t>
            </a:r>
            <a:endParaRPr/>
          </a:p>
        </p:txBody>
      </p:sp>
      <p:sp>
        <p:nvSpPr>
          <p:cNvPr id="479" name="Google Shape;479;p52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53" title="IMG_20250508_113157416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791" l="0" r="0" t="12799"/>
          <a:stretch/>
        </p:blipFill>
        <p:spPr>
          <a:xfrm>
            <a:off x="4629600" y="474750"/>
            <a:ext cx="4227300" cy="4194000"/>
          </a:xfrm>
          <a:prstGeom prst="roundRect">
            <a:avLst>
              <a:gd fmla="val 16667" name="adj"/>
            </a:avLst>
          </a:prstGeom>
        </p:spPr>
      </p:pic>
      <p:sp>
        <p:nvSpPr>
          <p:cNvPr id="485" name="Google Shape;485;p53"/>
          <p:cNvSpPr/>
          <p:nvPr/>
        </p:nvSpPr>
        <p:spPr>
          <a:xfrm>
            <a:off x="6452975" y="4034298"/>
            <a:ext cx="21723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William Lee</a:t>
            </a:r>
            <a:endParaRPr sz="10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486" name="Google Shape;486;p53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3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Welcome</a:t>
            </a:r>
            <a:endParaRPr sz="3600"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to the team</a:t>
            </a:r>
            <a:endParaRPr sz="3600"/>
          </a:p>
        </p:txBody>
      </p:sp>
      <p:sp>
        <p:nvSpPr>
          <p:cNvPr id="488" name="Google Shape;488;p5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53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4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a guest cancel?</a:t>
            </a:r>
            <a:endParaRPr/>
          </a:p>
        </p:txBody>
      </p:sp>
      <p:sp>
        <p:nvSpPr>
          <p:cNvPr id="495" name="Google Shape;495;p54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4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4"/>
          <p:cNvSpPr txBox="1"/>
          <p:nvPr/>
        </p:nvSpPr>
        <p:spPr>
          <a:xfrm>
            <a:off x="583975" y="1646300"/>
            <a:ext cx="809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want to predict whether a hotel guest will cancel based on a variety of </a:t>
            </a:r>
            <a:r>
              <a:rPr lang="en" sz="15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factors.</a:t>
            </a:r>
            <a:endParaRPr sz="15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used hotel data, which includes features such as average daily rate, deposit type, hotel type, and lead time. </a:t>
            </a:r>
            <a:endParaRPr sz="15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5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503" name="Google Shape;503;p55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Cleaned the data for outliers: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ADR == 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ADR &gt; 1000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adults == children == 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children == 10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babies &gt;8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Removed ~2000 entries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04" name="Google Shape;504;p5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5" name="Google Shape;50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325" y="580425"/>
            <a:ext cx="3085960" cy="386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511" name="Google Shape;511;p56"/>
          <p:cNvSpPr txBox="1"/>
          <p:nvPr>
            <p:ph idx="1" type="body"/>
          </p:nvPr>
        </p:nvSpPr>
        <p:spPr>
          <a:xfrm>
            <a:off x="284700" y="1440225"/>
            <a:ext cx="2772600" cy="16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shape: 117391 x 32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Split: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Non Cancel</a:t>
            </a:r>
            <a:r>
              <a:rPr lang="en" sz="1400"/>
              <a:t>: 73386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Cancel: 44005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7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pic>
        <p:nvPicPr>
          <p:cNvPr id="521" name="Google Shape;52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00" y="1021165"/>
            <a:ext cx="1803549" cy="1460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700" y="2856038"/>
            <a:ext cx="1803556" cy="14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8725" y="949663"/>
            <a:ext cx="2075350" cy="160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46800" y="949663"/>
            <a:ext cx="2075352" cy="16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7000" y="2856037"/>
            <a:ext cx="1803549" cy="14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29300" y="2856050"/>
            <a:ext cx="2447104" cy="146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Nearest Neighbor</a:t>
            </a:r>
            <a:endParaRPr/>
          </a:p>
        </p:txBody>
      </p:sp>
      <p:sp>
        <p:nvSpPr>
          <p:cNvPr id="532" name="Google Shape;532;p58"/>
          <p:cNvSpPr txBox="1"/>
          <p:nvPr>
            <p:ph idx="1" type="body"/>
          </p:nvPr>
        </p:nvSpPr>
        <p:spPr>
          <a:xfrm>
            <a:off x="284700" y="1440225"/>
            <a:ext cx="2772600" cy="21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 applied kNN with the features ADR, lead_time, and babies.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Used scaling and weights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 = 101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Results: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F1-score: 77%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4" name="Google Shape;53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938" y="901063"/>
            <a:ext cx="4477076" cy="3458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540" name="Google Shape;540;p59"/>
          <p:cNvSpPr txBox="1"/>
          <p:nvPr>
            <p:ph idx="1" type="body"/>
          </p:nvPr>
        </p:nvSpPr>
        <p:spPr>
          <a:xfrm>
            <a:off x="284700" y="1440225"/>
            <a:ext cx="2772600" cy="23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 used Logistic Regression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Features ADR, babies, previous_cancellations, and lead_time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Used scaling and weights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Results: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67%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2" name="Google Shape;54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199" y="939630"/>
            <a:ext cx="4227300" cy="3265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CatBoost</a:t>
            </a:r>
            <a:endParaRPr/>
          </a:p>
        </p:txBody>
      </p:sp>
      <p:sp>
        <p:nvSpPr>
          <p:cNvPr id="548" name="Google Shape;548;p60"/>
          <p:cNvSpPr txBox="1"/>
          <p:nvPr>
            <p:ph idx="1" type="body"/>
          </p:nvPr>
        </p:nvSpPr>
        <p:spPr>
          <a:xfrm>
            <a:off x="284700" y="1440225"/>
            <a:ext cx="2772600" cy="21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 applied CatBoost with the features country, hotel, reserved_room_type, arrival_date_month, adr, lead_time, and babies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Used weights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Results: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F1-score: 76%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0" name="Google Shape;55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638" y="946411"/>
            <a:ext cx="4359675" cy="3367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